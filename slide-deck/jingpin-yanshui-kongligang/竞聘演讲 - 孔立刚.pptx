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竞聘演讲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D69E2E"/>
                </a:solidFill>
                <a:latin typeface="Microsoft YaHei"/>
              </a:defRPr>
            </a:pPr>
            <a:r>
              <a:t>演讲人：孔立刚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个人介绍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孔立刚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21 年从业经验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资深汽车行业售后服务专家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专注于售后管理体系建设与优化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擅长数据驱动的业务决策与团队管理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个人优势分析 (Strengths)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丰富的行业经验：21 年深耕汽车售后领域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系统化思维：善于构建可视化管理体系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技术创新能力：熟练运用自动化工具提升效率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实战业绩突出：多个成功案例验证能力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个人劣势分析 (Weaknesses)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新技术学习速度需加快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跨部门协调经验有待加强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高层战略视野需要进一步拓展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主要业绩成果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69E2E"/>
                </a:solidFill>
                <a:latin typeface="Microsoft YaHei"/>
              </a:defRPr>
            </a:pPr>
            <a:r>
              <a:t>重庆金团售后可视化管理成功案例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Microsoft YaHei"/>
              </a:defRPr>
            </a:pPr>
            <a:r>
              <a:t>项目背景</a:t>
            </a:r>
          </a:p>
          <a:p>
            <a:pPr>
              <a:spcAft>
                <a:spcPts val="800"/>
              </a:spcAft>
              <a:defRPr sz="2000">
                <a:solidFill>
                  <a:srgbClr val="646464"/>
                </a:solidFill>
                <a:latin typeface="Microsoft YaHei"/>
              </a:defRPr>
            </a:pPr>
            <a:r>
              <a:t>  - 传统售后管理数据分散</a:t>
            </a:r>
          </a:p>
          <a:p>
            <a:pPr>
              <a:spcAft>
                <a:spcPts val="800"/>
              </a:spcAft>
              <a:defRPr sz="2000">
                <a:solidFill>
                  <a:srgbClr val="646464"/>
                </a:solidFill>
                <a:latin typeface="Microsoft YaHei"/>
              </a:defRPr>
            </a:pPr>
            <a:r>
              <a:t>  - 决策滞后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Microsoft YaHei"/>
              </a:defRPr>
            </a:pPr>
            <a:r>
              <a:t>解决方案</a:t>
            </a:r>
          </a:p>
          <a:p>
            <a:pPr>
              <a:spcAft>
                <a:spcPts val="800"/>
              </a:spcAft>
              <a:defRPr sz="2000">
                <a:solidFill>
                  <a:srgbClr val="646464"/>
                </a:solidFill>
                <a:latin typeface="Microsoft YaHei"/>
              </a:defRPr>
            </a:pPr>
            <a:r>
              <a:t>  - 搭建可视化数据管理平台</a:t>
            </a:r>
          </a:p>
          <a:p>
            <a:pPr>
              <a:spcAft>
                <a:spcPts val="800"/>
              </a:spcAft>
              <a:defRPr sz="2000">
                <a:solidFill>
                  <a:srgbClr val="646464"/>
                </a:solidFill>
                <a:latin typeface="Microsoft YaHei"/>
              </a:defRPr>
            </a:pPr>
            <a:r>
              <a:t>  - 实现关键指标实时监控</a:t>
            </a:r>
          </a:p>
          <a:p>
            <a:pPr>
              <a:spcAft>
                <a:spcPts val="800"/>
              </a:spcAft>
              <a:defRPr sz="2000">
                <a:solidFill>
                  <a:srgbClr val="646464"/>
                </a:solidFill>
                <a:latin typeface="Microsoft YaHei"/>
              </a:defRPr>
            </a:pPr>
            <a:r>
              <a:t>  - 建立自动化报表系统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365D"/>
                </a:solidFill>
                <a:latin typeface="Microsoft YaHei"/>
              </a:defRPr>
            </a:pPr>
            <a:r>
              <a:t>取得成效</a:t>
            </a:r>
          </a:p>
          <a:p>
            <a:pPr>
              <a:spcAft>
                <a:spcPts val="800"/>
              </a:spcAft>
              <a:defRPr sz="2000">
                <a:solidFill>
                  <a:srgbClr val="646464"/>
                </a:solidFill>
                <a:latin typeface="Microsoft YaHei"/>
              </a:defRPr>
            </a:pPr>
            <a:r>
              <a:t>  - 管理效率提升 40%</a:t>
            </a:r>
          </a:p>
          <a:p>
            <a:pPr>
              <a:spcAft>
                <a:spcPts val="800"/>
              </a:spcAft>
              <a:defRPr sz="2000">
                <a:solidFill>
                  <a:srgbClr val="646464"/>
                </a:solidFill>
                <a:latin typeface="Microsoft YaHei"/>
              </a:defRPr>
            </a:pPr>
            <a:r>
              <a:t>  - 客户满意度显著提高</a:t>
            </a:r>
          </a:p>
          <a:p>
            <a:pPr>
              <a:spcAft>
                <a:spcPts val="800"/>
              </a:spcAft>
              <a:defRPr sz="2000">
                <a:solidFill>
                  <a:srgbClr val="646464"/>
                </a:solidFill>
                <a:latin typeface="Microsoft YaHei"/>
              </a:defRPr>
            </a:pPr>
            <a:r>
              <a:t>  - 团队协作更加顺畅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业绩成果 - 自动化工具应用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数据分析自动化：减少人工统计时间 70%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报表生成自动化：日报、周报自动生成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预警机制自动化：异常数据实时提醒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流程优化自动化：标准化作业流程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竞聘理由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经验匹配：21 年经验完全契合岗位需求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业绩支撑：成功案例证明能力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愿景一致：与公司发展目标高度认同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责任担当：愿意承担更大责任，创造更大价值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核心工作思路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1371600"/>
            <a:ext cx="3" cy="4572000"/>
          </a:xfrm>
          <a:prstGeom prst="roundRect">
            <a:avLst/>
          </a:prstGeom>
          <a:solidFill>
            <a:srgbClr val="F7FAFC"/>
          </a:solidFill>
          <a:ln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554480"/>
            <a:ext cx="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Microsoft YaHei"/>
              </a:defRPr>
            </a:pPr>
            <a:r>
              <a:t>1. 数据驱动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286000"/>
            <a:ext cx="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  <a:latin typeface="Microsoft YaHei"/>
              </a:defRPr>
            </a:pPr>
            <a:r>
              <a:t>• 用数据说话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  <a:latin typeface="Microsoft YaHei"/>
              </a:defRPr>
            </a:pPr>
            <a:r>
              <a:t>• 科学决策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" y="1371600"/>
            <a:ext cx="3" cy="4572000"/>
          </a:xfrm>
          <a:prstGeom prst="roundRect">
            <a:avLst/>
          </a:prstGeom>
          <a:solidFill>
            <a:srgbClr val="F7FAFC"/>
          </a:solidFill>
          <a:ln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" y="1554480"/>
            <a:ext cx="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Microsoft YaHei"/>
              </a:defRPr>
            </a:pPr>
            <a:r>
              <a:t>2. 客户至上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" y="2286000"/>
            <a:ext cx="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  <a:latin typeface="Microsoft YaHei"/>
              </a:defRPr>
            </a:pPr>
            <a:r>
              <a:t>• 以提升客户体验为核心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" y="1371600"/>
            <a:ext cx="3" cy="4572000"/>
          </a:xfrm>
          <a:prstGeom prst="roundRect">
            <a:avLst/>
          </a:prstGeom>
          <a:solidFill>
            <a:srgbClr val="F7FAFC"/>
          </a:solidFill>
          <a:ln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" y="1554480"/>
            <a:ext cx="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Microsoft YaHei"/>
              </a:defRPr>
            </a:pPr>
            <a:r>
              <a:t>3. 团队赋能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" y="2286000"/>
            <a:ext cx="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  <a:latin typeface="Microsoft YaHei"/>
              </a:defRPr>
            </a:pPr>
            <a:r>
              <a:t>• 激发团队潜能</a:t>
            </a:r>
          </a:p>
          <a:p>
            <a:pPr>
              <a:spcAft>
                <a:spcPts val="800"/>
              </a:spcAft>
              <a:defRPr sz="1800">
                <a:solidFill>
                  <a:srgbClr val="1A365D"/>
                </a:solidFill>
                <a:latin typeface="Microsoft YaHei"/>
              </a:defRPr>
            </a:pPr>
            <a:r>
              <a:t>• 共同成长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业务规划 - 第一阶段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夯实基础 (1-3 个月)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梳理现有业务流程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建立标准化作业规范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完善数据采集体系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搭建基础可视化平台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业务规划 - 第二阶段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优化提升 (4-9 个月)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深化数据分析应用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优化关键业务指标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推广自动化管理工具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建立持续改进机制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业务规划 - 第三阶段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创新突破 (10-18 个月)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探索创新业务模式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打造行业标杆案例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形成可复制管理经验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实现业务跨越式发展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团队管理设想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69E2E"/>
                </a:solidFill>
                <a:latin typeface="Microsoft YaHei"/>
              </a:defRPr>
            </a:pPr>
            <a:r>
              <a:t>要点 1 - 建立清晰的目标体系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设定明确的团队目标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分解个人绩效指标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定期回顾与调整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确保目标与战略对齐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团队管理设想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69E2E"/>
                </a:solidFill>
                <a:latin typeface="Microsoft YaHei"/>
              </a:defRPr>
            </a:pPr>
            <a:r>
              <a:t>要点 2 - 打造学习型组织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建立定期培训机制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鼓励知识分享与交流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支持成员技能提升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营造持续学习氛围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团队管理设想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69E2E"/>
                </a:solidFill>
                <a:latin typeface="Microsoft YaHei"/>
              </a:defRPr>
            </a:pPr>
            <a:r>
              <a:t>要点 3 - 强化沟通与协作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建立高效沟通渠道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促进跨部门协作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定期团队建设活动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打造开放包容文化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团队管理设想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D69E2E"/>
                </a:solidFill>
                <a:latin typeface="Microsoft YaHei"/>
              </a:defRPr>
            </a:pPr>
            <a:r>
              <a:t>要点 4 - 激励机制与关怀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建立公平激励机制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认可与奖励优秀表现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关注成员职业发展</a:t>
            </a:r>
          </a:p>
          <a:p>
            <a:pPr>
              <a:spcAft>
                <a:spcPts val="1400"/>
              </a:spcAft>
              <a:defRPr sz="2400">
                <a:solidFill>
                  <a:srgbClr val="1A365D"/>
                </a:solidFill>
                <a:latin typeface="Microsoft YaHei"/>
              </a:defRPr>
            </a:pPr>
            <a:r>
              <a:t>• 营造温暖团队氛围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愿景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72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69E2E"/>
                </a:solidFill>
                <a:latin typeface="Microsoft YaHei"/>
              </a:defRPr>
            </a:pPr>
            <a:r>
              <a:t>1. 公司层面</a:t>
            </a:r>
          </a:p>
          <a:p>
            <a:pPr>
              <a:spcAft>
                <a:spcPts val="600"/>
              </a:spcAft>
              <a:defRPr sz="2000">
                <a:solidFill>
                  <a:srgbClr val="1A365D"/>
                </a:solidFill>
                <a:latin typeface="Microsoft YaHei"/>
              </a:defRPr>
            </a:pPr>
            <a:r>
              <a:t>   • 助力公司战略目标实现</a:t>
            </a:r>
          </a:p>
          <a:p>
            <a:pPr>
              <a:spcAft>
                <a:spcPts val="600"/>
              </a:spcAft>
              <a:defRPr sz="2000">
                <a:solidFill>
                  <a:srgbClr val="1A365D"/>
                </a:solidFill>
                <a:latin typeface="Microsoft YaHei"/>
              </a:defRPr>
            </a:pPr>
            <a:r>
              <a:t>   • 推动公司数字化转型</a:t>
            </a:r>
          </a:p>
          <a:p>
            <a:pPr>
              <a:spcAft>
                <a:spcPts val="600"/>
              </a:spcAft>
              <a:defRPr sz="2000">
                <a:solidFill>
                  <a:srgbClr val="1A365D"/>
                </a:solidFill>
                <a:latin typeface="Microsoft YaHei"/>
              </a:defRPr>
            </a:pPr>
            <a:r>
              <a:t>   • 提升公司市场竞争力</a:t>
            </a:r>
          </a:p>
          <a:p>
            <a:pPr>
              <a:spcAft>
                <a:spcPts val="600"/>
              </a:spcAft>
              <a:defRPr sz="2000">
                <a:solidFill>
                  <a:srgbClr val="1A365D"/>
                </a:solidFill>
                <a:latin typeface="Microsoft YaHei"/>
              </a:defRPr>
            </a:pPr>
            <a:r>
              <a:t>   • 为公司创造持续价值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772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69E2E"/>
                </a:solidFill>
                <a:latin typeface="Microsoft YaHei"/>
              </a:defRPr>
            </a:pPr>
            <a:r>
              <a:t>2. 管理层面</a:t>
            </a:r>
          </a:p>
          <a:p>
            <a:pPr>
              <a:spcAft>
                <a:spcPts val="600"/>
              </a:spcAft>
              <a:defRPr sz="2000">
                <a:solidFill>
                  <a:srgbClr val="1A365D"/>
                </a:solidFill>
                <a:latin typeface="Microsoft YaHei"/>
              </a:defRPr>
            </a:pPr>
            <a:r>
              <a:t>   • 建立行业领先的售后管理标准</a:t>
            </a:r>
          </a:p>
          <a:p>
            <a:pPr>
              <a:spcAft>
                <a:spcPts val="600"/>
              </a:spcAft>
              <a:defRPr sz="2000">
                <a:solidFill>
                  <a:srgbClr val="1A365D"/>
                </a:solidFill>
                <a:latin typeface="Microsoft YaHei"/>
              </a:defRPr>
            </a:pPr>
            <a:r>
              <a:t>   • 形成可复制的管理方法论</a:t>
            </a:r>
          </a:p>
          <a:p>
            <a:pPr>
              <a:spcAft>
                <a:spcPts val="600"/>
              </a:spcAft>
              <a:defRPr sz="2000">
                <a:solidFill>
                  <a:srgbClr val="1A365D"/>
                </a:solidFill>
                <a:latin typeface="Microsoft YaHei"/>
              </a:defRPr>
            </a:pPr>
            <a:r>
              <a:t>   • 实现管理效率最大化</a:t>
            </a:r>
          </a:p>
          <a:p>
            <a:pPr>
              <a:spcAft>
                <a:spcPts val="600"/>
              </a:spcAft>
              <a:defRPr sz="2000">
                <a:solidFill>
                  <a:srgbClr val="1A365D"/>
                </a:solidFill>
                <a:latin typeface="Microsoft YaHei"/>
              </a:defRPr>
            </a:pPr>
            <a:r>
              <a:t>   • 成为行业管理标杆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772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69E2E"/>
                </a:solidFill>
                <a:latin typeface="Microsoft YaHei"/>
              </a:defRPr>
            </a:pPr>
            <a:r>
              <a:t>3. 团队层面</a:t>
            </a:r>
          </a:p>
          <a:p>
            <a:pPr>
              <a:spcAft>
                <a:spcPts val="600"/>
              </a:spcAft>
              <a:defRPr sz="2000">
                <a:solidFill>
                  <a:srgbClr val="1A365D"/>
                </a:solidFill>
                <a:latin typeface="Microsoft YaHei"/>
              </a:defRPr>
            </a:pPr>
            <a:r>
              <a:t>   • 培养高素质专业人才</a:t>
            </a:r>
          </a:p>
          <a:p>
            <a:pPr>
              <a:spcAft>
                <a:spcPts val="600"/>
              </a:spcAft>
              <a:defRPr sz="2000">
                <a:solidFill>
                  <a:srgbClr val="1A365D"/>
                </a:solidFill>
                <a:latin typeface="Microsoft YaHei"/>
              </a:defRPr>
            </a:pPr>
            <a:r>
              <a:t>   • 打造高绩效战斗团队</a:t>
            </a:r>
          </a:p>
          <a:p>
            <a:pPr>
              <a:spcAft>
                <a:spcPts val="600"/>
              </a:spcAft>
              <a:defRPr sz="2000">
                <a:solidFill>
                  <a:srgbClr val="1A365D"/>
                </a:solidFill>
                <a:latin typeface="Microsoft YaHei"/>
              </a:defRPr>
            </a:pPr>
            <a:r>
              <a:t>   • 实现团队成员共同成长</a:t>
            </a:r>
          </a:p>
          <a:p>
            <a:pPr>
              <a:spcAft>
                <a:spcPts val="600"/>
              </a:spcAft>
              <a:defRPr sz="2000">
                <a:solidFill>
                  <a:srgbClr val="1A365D"/>
                </a:solidFill>
                <a:latin typeface="Microsoft YaHei"/>
              </a:defRPr>
            </a:pPr>
            <a:r>
              <a:t>   • 成为行业人才摇篮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D69E2E"/>
                </a:solidFill>
                <a:latin typeface="Microsoft YaHei"/>
              </a:defRPr>
            </a:pPr>
            <a:r>
              <a:t>期待与您共创美好未来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孔立刚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